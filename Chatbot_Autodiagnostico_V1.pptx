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bot-autodiagnostico-gwtjwjh2xzyjc55yusn4qf.streamlit.app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4572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331720"/>
            <a:ext cx="8686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FFA5"/>
                </a:solidFill>
                <a:latin typeface="Calibri"/>
              </a:rPr>
              <a:t>AUTODIAGNÓSTICO · CHATBOT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058400" cy="1554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entury Gothic"/>
              </a:rPr>
              <a:t>Versión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60520"/>
            <a:ext cx="96012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>
                <a:solidFill>
                  <a:srgbClr val="D9D9D9"/>
                </a:solidFill>
                <a:latin typeface="Calibri"/>
              </a:rPr>
              <a:t>Chatbot </a:t>
            </a:r>
            <a:r>
              <a:rPr sz="1600" b="0" i="0" dirty="0" err="1">
                <a:solidFill>
                  <a:srgbClr val="D9D9D9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D9D9D9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D9D9D9"/>
                </a:solidFill>
                <a:latin typeface="Calibri"/>
              </a:rPr>
              <a:t>lenguaje</a:t>
            </a:r>
            <a:r>
              <a:rPr sz="1600" b="0" i="0" dirty="0">
                <a:solidFill>
                  <a:srgbClr val="D9D9D9"/>
                </a:solidFill>
                <a:latin typeface="Calibri"/>
              </a:rPr>
              <a:t> natural </a:t>
            </a:r>
            <a:r>
              <a:rPr sz="1600" b="0" i="0" dirty="0" err="1">
                <a:solidFill>
                  <a:srgbClr val="D9D9D9"/>
                </a:solidFill>
                <a:latin typeface="Calibri"/>
              </a:rPr>
              <a:t>conectado</a:t>
            </a:r>
            <a:r>
              <a:rPr sz="1600" b="0" i="0" dirty="0">
                <a:solidFill>
                  <a:srgbClr val="D9D9D9"/>
                </a:solidFill>
                <a:latin typeface="Calibri"/>
              </a:rPr>
              <a:t> a </a:t>
            </a:r>
            <a:r>
              <a:rPr sz="1600" b="0" i="0" dirty="0" err="1">
                <a:solidFill>
                  <a:srgbClr val="D9D9D9"/>
                </a:solidFill>
                <a:latin typeface="Calibri"/>
              </a:rPr>
              <a:t>datos</a:t>
            </a:r>
            <a:r>
              <a:rPr sz="1600" b="0" i="0" dirty="0">
                <a:solidFill>
                  <a:srgbClr val="D9D9D9"/>
                </a:solidFill>
                <a:latin typeface="Calibri"/>
              </a:rPr>
              <a:t> reales del </a:t>
            </a:r>
            <a:r>
              <a:rPr sz="1600" b="0" i="0" dirty="0" err="1">
                <a:solidFill>
                  <a:srgbClr val="D9D9D9"/>
                </a:solidFill>
                <a:latin typeface="Calibri"/>
              </a:rPr>
              <a:t>proceso</a:t>
            </a:r>
            <a:r>
              <a:rPr sz="1600" b="0" i="0" dirty="0">
                <a:solidFill>
                  <a:srgbClr val="D9D9D9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D9D9D9"/>
                </a:solidFill>
                <a:latin typeface="Calibri"/>
              </a:rPr>
              <a:t>autodiagnóstico</a:t>
            </a:r>
            <a:endParaRPr lang="es-ES" sz="1600" b="0" i="0" dirty="0">
              <a:solidFill>
                <a:srgbClr val="D9D9D9"/>
              </a:solidFill>
              <a:latin typeface="Calibri"/>
            </a:endParaRPr>
          </a:p>
          <a:p>
            <a:r>
              <a:rPr lang="es-CO" sz="1600" dirty="0">
                <a:solidFill>
                  <a:srgbClr val="D9D9D9"/>
                </a:solidFill>
                <a:hlinkClick r:id="rId2" tooltip="Chatbot IA - APP"/>
              </a:rPr>
              <a:t>https://chatbot-autodiagnostico-gwtjwjh2xzyjc55yusn4qf.streamlit.app/ </a:t>
            </a:r>
            <a:endParaRPr sz="1600" b="0" i="0" dirty="0">
              <a:solidFill>
                <a:srgbClr val="D9D9D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617220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6A6A6"/>
                </a:solidFill>
                <a:latin typeface="Consolas"/>
              </a:rPr>
              <a:t>Julio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2651760"/>
            <a:ext cx="256032" cy="32004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104120" y="2423160"/>
            <a:ext cx="256032" cy="54864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515600" y="2148840"/>
            <a:ext cx="256032" cy="82296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27080" y="1828800"/>
            <a:ext cx="256032" cy="1143000"/>
          </a:xfrm>
          <a:prstGeom prst="rect">
            <a:avLst/>
          </a:prstGeom>
          <a:solidFill>
            <a:srgbClr val="FF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338560" y="2286000"/>
            <a:ext cx="256032" cy="68580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502920"/>
            <a:ext cx="822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3FFA5"/>
                </a:solidFill>
                <a:latin typeface="Century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943600"/>
            <a:ext cx="82296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alibri"/>
              </a:rPr>
              <a:t>POR QUÉ EXISTE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850392"/>
            <a:ext cx="1042416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00000"/>
                </a:solidFill>
                <a:latin typeface="Century Gothic"/>
              </a:rPr>
              <a:t>Del dato disperso a la respuesta en segundos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5120640" cy="4206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El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proceso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autodiagnóstico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corre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tres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canales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distintos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(Portal, WhatsApp y Sysbrazo) y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su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resultado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—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si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falla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escala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o se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resuelve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—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vive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repartido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entre Sysbrazo y Odoo.</a:t>
            </a:r>
          </a:p>
          <a:p>
            <a:pPr algn="l">
              <a:lnSpc>
                <a:spcPct val="130000"/>
              </a:lnSpc>
            </a:pPr>
            <a:endParaRPr sz="15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Hoy, responder “¿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por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falla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más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el Portal?” o “¿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equipo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resuelve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más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rápido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?”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exige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escribir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SQL.</a:t>
            </a:r>
          </a:p>
          <a:p>
            <a:pPr algn="l">
              <a:lnSpc>
                <a:spcPct val="130000"/>
              </a:lnSpc>
            </a:pPr>
            <a:endParaRPr sz="15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El chatbot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elimina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esa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barrera: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cualquier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persona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pregunta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con sus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propias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palabras y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obtiene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la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cifra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, la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tabla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y el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gráfico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al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instante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691640"/>
            <a:ext cx="484632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0" y="1691640"/>
            <a:ext cx="54864" cy="420624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14032" y="1856232"/>
            <a:ext cx="43891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0000"/>
                </a:solidFill>
                <a:latin typeface="Century Gothic"/>
              </a:rPr>
              <a:t>En una frase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2258568"/>
            <a:ext cx="4389120" cy="3474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Convierte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la data del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autodiagnóstico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respuestas</a:t>
            </a:r>
            <a:endParaRPr sz="15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cualquiera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puede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obtener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preguntando</a:t>
            </a:r>
            <a:endParaRPr sz="15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con sus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propias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palabras.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502920"/>
            <a:ext cx="822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3FFA5"/>
                </a:solidFill>
                <a:latin typeface="Century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943600"/>
            <a:ext cx="82296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FUENTE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alibri"/>
              </a:rPr>
              <a:t>COMPOSICIÓN DE LA 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850392"/>
            <a:ext cx="1042416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00000"/>
                </a:solidFill>
                <a:latin typeface="Century Gothic"/>
              </a:rPr>
              <a:t>Una fila por autodiagnóstico, 26 campos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102412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Calibri"/>
              </a:rPr>
              <a:t>Consulta consolidada en Redash sobre analytics.v_auto_diagnostic_full · ~72.800 registros · desde nov-2025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331720"/>
            <a:ext cx="3246120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17320" y="2331720"/>
            <a:ext cx="54864" cy="356616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73352" y="2496312"/>
            <a:ext cx="27889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0000"/>
                </a:solidFill>
                <a:latin typeface="Century Gothic"/>
              </a:rPr>
              <a:t>① Cliente y ubicación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898648"/>
            <a:ext cx="2788920" cy="2834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id,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client_id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client_name</a:t>
            </a:r>
            <a:endParaRPr sz="15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gaiia_id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(id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sistemas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internos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nombre_ciudad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(6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ciudades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, Colombia)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331720"/>
            <a:ext cx="3246120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6320" y="2331720"/>
            <a:ext cx="54864" cy="3566160"/>
          </a:xfrm>
          <a:prstGeom prst="rect">
            <a:avLst/>
          </a:prstGeom>
          <a:solidFill>
            <a:srgbClr val="FF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02352" y="2496312"/>
            <a:ext cx="27889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0000"/>
                </a:solidFill>
                <a:latin typeface="Century Gothic"/>
              </a:rPr>
              <a:t>② El proceso en sí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898648"/>
            <a:ext cx="2788920" cy="2834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source (canal): Portal, WhatsApp, Sysbrazo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status (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resultado</a:t>
            </a:r>
            <a:r>
              <a:rPr sz="1500" dirty="0">
                <a:solidFill>
                  <a:srgbClr val="1A1A1A"/>
                </a:solidFill>
                <a:latin typeface="Calibri"/>
              </a:rPr>
              <a:t>): finished / failed / canceled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started_at</a:t>
            </a:r>
            <a:r>
              <a:rPr sz="1500" dirty="0">
                <a:solidFill>
                  <a:srgbClr val="1A1A1A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finished_at</a:t>
            </a:r>
            <a:r>
              <a:rPr sz="1500" dirty="0">
                <a:solidFill>
                  <a:srgbClr val="1A1A1A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duración</a:t>
            </a:r>
            <a:endParaRPr sz="150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failure_reason</a:t>
            </a:r>
            <a:r>
              <a:rPr sz="1500" dirty="0">
                <a:solidFill>
                  <a:srgbClr val="1A1A1A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failed_step</a:t>
            </a:r>
            <a:r>
              <a:rPr sz="1500" dirty="0">
                <a:solidFill>
                  <a:srgbClr val="1A1A1A"/>
                </a:solidFill>
                <a:latin typeface="Calibri"/>
              </a:rPr>
              <a:t> (causa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técnica</a:t>
            </a:r>
            <a:r>
              <a:rPr sz="1500" dirty="0">
                <a:solidFill>
                  <a:srgbClr val="1A1A1A"/>
                </a:solidFill>
                <a:latin typeface="Calibri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2331720"/>
            <a:ext cx="3246120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2331720"/>
            <a:ext cx="54864" cy="35661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31352" y="2496312"/>
            <a:ext cx="27889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0000"/>
                </a:solidFill>
                <a:latin typeface="Century Gothic"/>
              </a:rPr>
              <a:t>③ El ticket (si escaló)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898648"/>
            <a:ext cx="2788920" cy="2834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odoo_ticket_id</a:t>
            </a:r>
            <a:r>
              <a:rPr sz="1500" dirty="0">
                <a:solidFill>
                  <a:srgbClr val="1A1A1A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ticket_ref</a:t>
            </a:r>
            <a:r>
              <a:rPr sz="1500" dirty="0">
                <a:solidFill>
                  <a:srgbClr val="1A1A1A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ticket_name</a:t>
            </a:r>
            <a:endParaRPr sz="150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ticket_stage</a:t>
            </a:r>
            <a:r>
              <a:rPr sz="1500" dirty="0">
                <a:solidFill>
                  <a:srgbClr val="1A1A1A"/>
                </a:solidFill>
                <a:latin typeface="Calibri"/>
              </a:rPr>
              <a:t>: New / In Progress / Solved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ticket_team</a:t>
            </a:r>
            <a:r>
              <a:rPr sz="1500" dirty="0">
                <a:solidFill>
                  <a:srgbClr val="1A1A1A"/>
                </a:solidFill>
                <a:latin typeface="Calibri"/>
              </a:rPr>
              <a:t>: NOC,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Instalaciones</a:t>
            </a:r>
            <a:r>
              <a:rPr sz="1500" dirty="0">
                <a:solidFill>
                  <a:srgbClr val="1A1A1A"/>
                </a:solidFill>
                <a:latin typeface="Calibri"/>
              </a:rPr>
              <a:t> y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Mtto</a:t>
            </a:r>
            <a:r>
              <a:rPr sz="1500" dirty="0">
                <a:solidFill>
                  <a:srgbClr val="1A1A1A"/>
                </a:solidFill>
                <a:latin typeface="Calibri"/>
              </a:rPr>
              <a:t>., CX...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motivo</a:t>
            </a:r>
            <a:r>
              <a:rPr sz="1500" dirty="0">
                <a:solidFill>
                  <a:srgbClr val="1A1A1A"/>
                </a:solidFill>
                <a:latin typeface="Calibri"/>
              </a:rPr>
              <a:t> apertura /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cierre</a:t>
            </a:r>
            <a:endParaRPr sz="150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fechas</a:t>
            </a:r>
            <a:r>
              <a:rPr sz="1500" dirty="0">
                <a:solidFill>
                  <a:srgbClr val="1A1A1A"/>
                </a:solidFill>
                <a:latin typeface="Calibri"/>
              </a:rPr>
              <a:t> de apertura y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cierre</a:t>
            </a:r>
            <a:r>
              <a:rPr sz="1500" dirty="0">
                <a:solidFill>
                  <a:srgbClr val="1A1A1A"/>
                </a:solidFill>
                <a:latin typeface="Calibri"/>
              </a:rPr>
              <a:t>, horas de </a:t>
            </a:r>
            <a:r>
              <a:rPr sz="1500" dirty="0" err="1">
                <a:solidFill>
                  <a:srgbClr val="1A1A1A"/>
                </a:solidFill>
                <a:latin typeface="Calibri"/>
              </a:rPr>
              <a:t>resolución</a:t>
            </a:r>
            <a:endParaRPr sz="150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502920"/>
            <a:ext cx="822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3FFA5"/>
                </a:solidFill>
                <a:latin typeface="Century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943600"/>
            <a:ext cx="82296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FUENTE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alibri"/>
              </a:rPr>
              <a:t>COMPOSICIÓN DE LA 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850392"/>
            <a:ext cx="1042416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00000"/>
                </a:solidFill>
                <a:latin typeface="Century Gothic"/>
              </a:rPr>
              <a:t>Lo </a:t>
            </a:r>
            <a:r>
              <a:rPr sz="2800" b="1" i="0" dirty="0" err="1">
                <a:solidFill>
                  <a:srgbClr val="000000"/>
                </a:solidFill>
                <a:latin typeface="Century Gothic"/>
              </a:rPr>
              <a:t>que</a:t>
            </a:r>
            <a:r>
              <a:rPr sz="2800" b="1" i="0" dirty="0">
                <a:solidFill>
                  <a:srgbClr val="000000"/>
                </a:solidFill>
                <a:latin typeface="Century Gothic"/>
              </a:rPr>
              <a:t> hay </a:t>
            </a:r>
            <a:r>
              <a:rPr sz="2800" b="1" i="0" dirty="0" err="1">
                <a:solidFill>
                  <a:srgbClr val="000000"/>
                </a:solidFill>
                <a:latin typeface="Century Gothic"/>
              </a:rPr>
              <a:t>realmente</a:t>
            </a:r>
            <a:r>
              <a:rPr sz="2800" b="1" i="0" dirty="0">
                <a:solidFill>
                  <a:srgbClr val="000000"/>
                </a:solidFill>
                <a:latin typeface="Century Gothic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Century Gothic"/>
              </a:rPr>
              <a:t>en</a:t>
            </a:r>
            <a:r>
              <a:rPr sz="2800" b="1" i="0" dirty="0">
                <a:solidFill>
                  <a:srgbClr val="000000"/>
                </a:solidFill>
                <a:latin typeface="Century Gothic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Century Gothic"/>
              </a:rPr>
              <a:t>los</a:t>
            </a:r>
            <a:r>
              <a:rPr sz="2800" b="1" i="0" dirty="0">
                <a:solidFill>
                  <a:srgbClr val="000000"/>
                </a:solidFill>
                <a:latin typeface="Century Gothic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Century Gothic"/>
              </a:rPr>
              <a:t>datos</a:t>
            </a:r>
            <a:r>
              <a:rPr sz="2800" b="1" i="0" dirty="0">
                <a:solidFill>
                  <a:srgbClr val="000000"/>
                </a:solidFill>
                <a:latin typeface="Century Gothic"/>
              </a:rPr>
              <a:t> hoy</a:t>
            </a:r>
            <a:r>
              <a:rPr lang="es-ES" sz="2800" b="1" i="0" dirty="0">
                <a:solidFill>
                  <a:srgbClr val="000000"/>
                </a:solidFill>
                <a:latin typeface="Century Gothic"/>
              </a:rPr>
              <a:t> (Actualiza Diariamente)</a:t>
            </a:r>
            <a:endParaRPr sz="2800" b="1" i="0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17320" y="1737360"/>
            <a:ext cx="1965960" cy="1234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19659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3FFA5"/>
                </a:solidFill>
                <a:latin typeface="Consolas"/>
              </a:rPr>
              <a:t>72.827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1783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Autodiagnósticos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737360"/>
            <a:ext cx="1965960" cy="1234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56432" y="1828800"/>
            <a:ext cx="19659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3FFA5"/>
                </a:solidFill>
                <a:latin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450592"/>
            <a:ext cx="1783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Canales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95544" y="1737360"/>
            <a:ext cx="1965960" cy="1234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95544" y="1828800"/>
            <a:ext cx="19659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3FFA5"/>
                </a:solidFill>
                <a:latin typeface="Consola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4" y="2450592"/>
            <a:ext cx="1783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Ciudades (Colombia)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34656" y="1737360"/>
            <a:ext cx="1965960" cy="1234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34656" y="1828800"/>
            <a:ext cx="19659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3FFA5"/>
                </a:solidFill>
                <a:latin typeface="Consolas"/>
              </a:rPr>
              <a:t>9.742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450592"/>
            <a:ext cx="1783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Con ticket asociado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3768" y="1737360"/>
            <a:ext cx="1965960" cy="1234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73768" y="1828800"/>
            <a:ext cx="19659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3FFA5"/>
                </a:solidFill>
                <a:latin typeface="Consolas"/>
              </a:rPr>
              <a:t>6.984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450592"/>
            <a:ext cx="1783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Tickets ya resueltos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291840"/>
            <a:ext cx="5029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95959"/>
                </a:solidFill>
                <a:latin typeface="Calibri"/>
              </a:rPr>
              <a:t>CANALES (source)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3703320"/>
            <a:ext cx="50292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00200" y="3776472"/>
            <a:ext cx="2926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0000"/>
                </a:solidFill>
                <a:latin typeface="Calibri"/>
              </a:rPr>
              <a:t>Portal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76472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onsolas"/>
              </a:rPr>
              <a:t>≈ 73k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4325112"/>
            <a:ext cx="50292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00200" y="4398264"/>
            <a:ext cx="2926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0000"/>
                </a:solidFill>
                <a:latin typeface="Calibri"/>
              </a:rPr>
              <a:t>WhatsApp (Botmaker)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398264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onsolas"/>
              </a:rPr>
              <a:t>≈ 4,6k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4946904"/>
            <a:ext cx="50292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00200" y="5020056"/>
            <a:ext cx="2926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0000"/>
                </a:solidFill>
                <a:latin typeface="Calibri"/>
              </a:rPr>
              <a:t>Sysbrazo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020056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onsolas"/>
              </a:rPr>
              <a:t>≈ 0,6k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91840"/>
            <a:ext cx="4846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95959"/>
                </a:solidFill>
                <a:latin typeface="Calibri"/>
              </a:rPr>
              <a:t>CIUDADES CUBIERTAS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70332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solidFill>
              <a:srgbClr val="078A4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Barranquilla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67344" y="370332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solidFill>
              <a:srgbClr val="078A4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Cartagena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76688" y="370332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solidFill>
              <a:srgbClr val="078A4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Montería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27024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solidFill>
              <a:srgbClr val="078A4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Santa Marta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67344" y="427024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solidFill>
              <a:srgbClr val="078A4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Sincelejo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76688" y="427024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solidFill>
              <a:srgbClr val="078A4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Turbaco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074920"/>
            <a:ext cx="484632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595959"/>
                </a:solidFill>
                <a:latin typeface="Calibri"/>
              </a:rPr>
              <a:t>Nota: se excluyó “Corrientes” (fuera del alcance geográfico, análisis limitado a Colombia).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502920"/>
            <a:ext cx="822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3FFA5"/>
                </a:solidFill>
                <a:latin typeface="Century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943600"/>
            <a:ext cx="82296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ALCANCE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alibri"/>
              </a:rPr>
              <a:t>QUÉ PUEDE Y QUÉ NO PUEDE (TODAVÍA)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850392"/>
            <a:ext cx="1042416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00000"/>
                </a:solidFill>
                <a:latin typeface="Century Gothic"/>
              </a:rPr>
              <a:t>Alcance de esta primera versión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691640"/>
            <a:ext cx="5029200" cy="50292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1764792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Century Gothic"/>
              </a:rPr>
              <a:t>✓  INCLUIDO EN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31720"/>
            <a:ext cx="4754880" cy="3657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Preguntas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lenguaje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natural, sin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sintaxis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fija</a:t>
            </a:r>
            <a:endParaRPr sz="15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Memoria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conversacional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(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sigue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el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hilo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de la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charla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3 canales · 6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ciudades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· histórico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desde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nov-2025</a:t>
            </a:r>
          </a:p>
          <a:p>
            <a:pPr algn="l">
              <a:lnSpc>
                <a:spcPct val="13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Resultado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del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proceso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+ causa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técnica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falla</a:t>
            </a:r>
            <a:endParaRPr sz="15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Ticket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asociado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equipo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estado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y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tiempo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resolución</a:t>
            </a:r>
            <a:endParaRPr sz="15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Filtros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y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gráficos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automáticos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por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pregunta</a:t>
            </a:r>
            <a:endParaRPr sz="15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0" y="1691640"/>
            <a:ext cx="4846320" cy="502920"/>
          </a:xfrm>
          <a:prstGeom prst="rect">
            <a:avLst/>
          </a:prstGeom>
          <a:solidFill>
            <a:srgbClr val="FF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1764792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Century Gothic"/>
              </a:rPr>
              <a:t>◐  FUERA DE ALCANCE (AÚN)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331720"/>
            <a:ext cx="4480560" cy="3657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•  El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comentario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/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mensaje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exacto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entregado</a:t>
            </a:r>
            <a:r>
              <a:rPr sz="1500" b="0" i="0" dirty="0">
                <a:solidFill>
                  <a:srgbClr val="1A1A1A"/>
                </a:solidFill>
                <a:latin typeface="Calibri"/>
              </a:rPr>
              <a:t> al </a:t>
            </a:r>
            <a:r>
              <a:rPr sz="1500" b="0" i="0" dirty="0" err="1">
                <a:solidFill>
                  <a:srgbClr val="1A1A1A"/>
                </a:solidFill>
                <a:latin typeface="Calibri"/>
              </a:rPr>
              <a:t>cliente</a:t>
            </a:r>
            <a:endParaRPr sz="15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502920"/>
            <a:ext cx="822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3FFA5"/>
                </a:solidFill>
                <a:latin typeface="Century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943600"/>
            <a:ext cx="82296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alibri"/>
              </a:rPr>
              <a:t>LA BARRA DE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850392"/>
            <a:ext cx="1042416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00000"/>
                </a:solidFill>
                <a:latin typeface="Century Gothic"/>
              </a:rPr>
              <a:t>Filtros y botones disponibles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5029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95959"/>
                </a:solidFill>
                <a:latin typeface="Calibri"/>
              </a:rPr>
              <a:t>FILTROS (barra izquierda)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148840"/>
            <a:ext cx="512064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17320" y="2148840"/>
            <a:ext cx="54864" cy="77724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46634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Calibri"/>
              </a:rPr>
              <a:t>Estado del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60320"/>
            <a:ext cx="47548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New · In Progress · Solved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063240"/>
            <a:ext cx="512064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17320" y="3063240"/>
            <a:ext cx="54864" cy="77724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3154680"/>
            <a:ext cx="46634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Calibri"/>
              </a:rPr>
              <a:t>Canal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74720"/>
            <a:ext cx="47548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Portal · WhatsApp · Sysbrazo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977640"/>
            <a:ext cx="512064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17320" y="3977640"/>
            <a:ext cx="54864" cy="77724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4069080"/>
            <a:ext cx="46634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Calibri"/>
              </a:rPr>
              <a:t>Ciudad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89120"/>
            <a:ext cx="47548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las 6 ciudades disponibles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4892040"/>
            <a:ext cx="512064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17320" y="4892040"/>
            <a:ext cx="54864" cy="777240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0" y="4983480"/>
            <a:ext cx="46634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Calibri"/>
              </a:rPr>
              <a:t>Fecha inicio / Hasta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03520"/>
            <a:ext cx="47548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cualquier rango dentro del histórico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691640"/>
            <a:ext cx="4846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95959"/>
                </a:solidFill>
                <a:latin typeface="Calibri"/>
              </a:rPr>
              <a:t>BOTONES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148840"/>
            <a:ext cx="4846320" cy="960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2258568"/>
            <a:ext cx="44805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FFA5"/>
                </a:solidFill>
                <a:latin typeface="Calibri"/>
              </a:rPr>
              <a:t>🔄  Actualizar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51760"/>
            <a:ext cx="448056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D9D9D9"/>
                </a:solidFill>
                <a:latin typeface="Calibri"/>
              </a:rPr>
              <a:t>Trae el último resultado ya calculado en Redash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246120"/>
            <a:ext cx="4846320" cy="960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86600" y="3355848"/>
            <a:ext cx="44805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FFA5"/>
                </a:solidFill>
                <a:latin typeface="Calibri"/>
              </a:rPr>
              <a:t>🔄  Reiniciar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749040"/>
            <a:ext cx="448056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D9D9D9"/>
                </a:solidFill>
                <a:latin typeface="Calibri"/>
              </a:rPr>
              <a:t>Borra la conversación y la memoria, sin recargar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502920"/>
            <a:ext cx="822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3FFA5"/>
                </a:solidFill>
                <a:latin typeface="Century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943600"/>
            <a:ext cx="82296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POR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alibri"/>
              </a:rPr>
              <a:t>EXPLICACIÓN TÉCNICA (MINI)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850392"/>
            <a:ext cx="1042416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00000"/>
                </a:solidFill>
                <a:latin typeface="Century Gothic"/>
              </a:rPr>
              <a:t>Cómo viaja la pregunta hasta la respuesta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502920"/>
            <a:ext cx="10424160" cy="1188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502920"/>
            <a:ext cx="10424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3FFA5"/>
                </a:solidFill>
                <a:latin typeface="Calibri"/>
              </a:rPr>
              <a:t>POR DENTRO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850392"/>
            <a:ext cx="1042416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entury Gothic"/>
              </a:rPr>
              <a:t>Cómo viaja la pregunta hasta la respuesta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2227" y="2377440"/>
            <a:ext cx="160020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62227" y="2377440"/>
            <a:ext cx="1600200" cy="54864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955" y="2542032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3FFA5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955" y="2944368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entury Gothic"/>
              </a:rPr>
              <a:t>Redash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955" y="3337560"/>
            <a:ext cx="138074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Consulta SQL ya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construida y validada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427" y="3017520"/>
            <a:ext cx="228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078A4E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91027" y="2377440"/>
            <a:ext cx="160020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91027" y="2377440"/>
            <a:ext cx="1600200" cy="54864"/>
          </a:xfrm>
          <a:prstGeom prst="rect">
            <a:avLst/>
          </a:prstGeom>
          <a:solidFill>
            <a:srgbClr val="FF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755" y="2542032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C042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755" y="2944368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entury Gothic"/>
              </a:rP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755" y="3337560"/>
            <a:ext cx="138074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El chatbot trae el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resultado vía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1227" y="3017520"/>
            <a:ext cx="228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078A4E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9827" y="2377440"/>
            <a:ext cx="160020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19827" y="2377440"/>
            <a:ext cx="1600200" cy="54864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555" y="2542032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3FFA5"/>
                </a:solidFill>
                <a:latin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555" y="2944368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entury Gothic"/>
              </a:rPr>
              <a:t>Chatbot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555" y="3337560"/>
            <a:ext cx="138074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Carga los datos y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espera tu pregunta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0027" y="3017520"/>
            <a:ext cx="228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078A4E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48627" y="2377440"/>
            <a:ext cx="160020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48627" y="2377440"/>
            <a:ext cx="1600200" cy="54864"/>
          </a:xfrm>
          <a:prstGeom prst="rect">
            <a:avLst/>
          </a:prstGeom>
          <a:solidFill>
            <a:srgbClr val="FF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355" y="2542032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C042"/>
                </a:solidFill>
                <a:latin typeface="Consola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355" y="2944368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entury Gothic"/>
              </a:rPr>
              <a:t>IA (Gemini)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355" y="3337560"/>
            <a:ext cx="138074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Traduce la pregunta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a una consulta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827" y="3017520"/>
            <a:ext cx="228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078A4E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77427" y="2377440"/>
            <a:ext cx="160020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77427" y="2377440"/>
            <a:ext cx="1600200" cy="54864"/>
          </a:xfrm>
          <a:prstGeom prst="rect">
            <a:avLst/>
          </a:prstGeom>
          <a:solidFill>
            <a:srgbClr val="43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7155" y="2542032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3FFA5"/>
                </a:solidFill>
                <a:latin typeface="Consola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7155" y="2944368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entury Gothic"/>
              </a:rPr>
              <a:t>Candado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7155" y="3337560"/>
            <a:ext cx="138074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Se valida: solo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lectura, nunca escribe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7627" y="3017520"/>
            <a:ext cx="228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078A4E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06227" y="2377440"/>
            <a:ext cx="160020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406227" y="2377440"/>
            <a:ext cx="1600200" cy="54864"/>
          </a:xfrm>
          <a:prstGeom prst="rect">
            <a:avLst/>
          </a:prstGeom>
          <a:solidFill>
            <a:srgbClr val="FF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955" y="2542032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C042"/>
                </a:solidFill>
                <a:latin typeface="Consola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955" y="2944368"/>
            <a:ext cx="1380744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entury Gothic"/>
              </a:rPr>
              <a:t>Respuesta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955" y="3337560"/>
            <a:ext cx="138074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Cifra + tabla +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CCC"/>
                </a:solidFill>
                <a:latin typeface="Calibri"/>
              </a:rPr>
              <a:t>gráfico, en español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4663440"/>
            <a:ext cx="9601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Calibri"/>
              </a:rPr>
              <a:t>El SQL que ejecutó cada respuesta siempre queda visible (“¿Cómo lo calculé?”) — las cifras nunca se inventan.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257800"/>
            <a:ext cx="97840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onsolas"/>
              </a:rPr>
              <a:t>Fuente de datos: Redash (consulta sobre analytics.v_auto_diagnostic_full)   ·   Motor de análisis: DuckDB (en memoria, de solo lectura)   ·   Interfaz: Streamlit (Python)   ·   Modelo de IA: Google Gemini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502920"/>
            <a:ext cx="822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3FFA5"/>
                </a:solidFill>
                <a:latin typeface="Century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943600"/>
            <a:ext cx="82296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78A4E"/>
                </a:solidFill>
                <a:latin typeface="Calibri"/>
              </a:rPr>
              <a:t>QUÉ SIGUE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850392"/>
            <a:ext cx="1042416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00000"/>
                </a:solidFill>
                <a:latin typeface="Century Gothic"/>
              </a:rPr>
              <a:t>Hoja de ruta hacia la V2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691640"/>
            <a:ext cx="10287000" cy="19659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417320" y="1691640"/>
            <a:ext cx="73152" cy="1965960"/>
          </a:xfrm>
          <a:prstGeom prst="rect">
            <a:avLst/>
          </a:prstGeom>
          <a:solidFill>
            <a:srgbClr val="FF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1847088"/>
            <a:ext cx="3657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C042"/>
                </a:solidFill>
                <a:latin typeface="Calibri"/>
              </a:rPr>
              <a:t>PRIORIDAD 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94560"/>
            <a:ext cx="978408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entury Gothic"/>
              </a:rPr>
              <a:t>Trazar el mensaje final entregado al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97480"/>
            <a:ext cx="978408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E6E6E6"/>
                </a:solidFill>
                <a:latin typeface="Calibri"/>
              </a:rPr>
              <a:t>Hoy el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sistema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NO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guarda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el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texto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exacto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recibe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el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cliente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tras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un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autodiagnóstico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(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éxito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o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falla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): se arma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el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momento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a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partir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plantillas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o se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delega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a Botmaker, y ese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texto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resuelto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no se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persiste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ninguna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tabla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. La V2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debe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definir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dónde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y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cómo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6E6E6"/>
                </a:solidFill>
                <a:latin typeface="Calibri"/>
              </a:rPr>
              <a:t>capturarlo</a:t>
            </a:r>
            <a:r>
              <a:rPr sz="1300" b="0" i="0" dirty="0">
                <a:solidFill>
                  <a:srgbClr val="E6E6E6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3192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95959"/>
                </a:solidFill>
                <a:latin typeface="Calibri"/>
              </a:rPr>
              <a:t>TAMBIÉN EN EL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434840"/>
            <a:ext cx="1005840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350" b="0" i="0" dirty="0" err="1">
                <a:solidFill>
                  <a:srgbClr val="1A1A1A"/>
                </a:solidFill>
                <a:latin typeface="Calibri"/>
              </a:rPr>
              <a:t>Detalle</a:t>
            </a:r>
            <a:r>
              <a:rPr sz="1350" b="0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350" b="0" i="0" dirty="0" err="1">
                <a:solidFill>
                  <a:srgbClr val="1A1A1A"/>
                </a:solidFill>
                <a:latin typeface="Calibri"/>
              </a:rPr>
              <a:t>motivo</a:t>
            </a:r>
            <a:r>
              <a:rPr sz="1350" b="0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350" b="0" i="0" dirty="0" err="1">
                <a:solidFill>
                  <a:srgbClr val="1A1A1A"/>
                </a:solidFill>
                <a:latin typeface="Calibri"/>
              </a:rPr>
              <a:t>cierre</a:t>
            </a:r>
            <a:r>
              <a:rPr sz="135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1A1A1A"/>
                </a:solidFill>
                <a:latin typeface="Calibri"/>
              </a:rPr>
              <a:t>por</a:t>
            </a:r>
            <a:r>
              <a:rPr sz="1350" b="0" i="0" dirty="0">
                <a:solidFill>
                  <a:srgbClr val="1A1A1A"/>
                </a:solidFill>
                <a:latin typeface="Calibri"/>
              </a:rPr>
              <a:t> ticket</a:t>
            </a:r>
          </a:p>
          <a:p>
            <a:pPr algn="l">
              <a:lnSpc>
                <a:spcPct val="140000"/>
              </a:lnSpc>
            </a:pPr>
            <a:r>
              <a:rPr sz="1350" b="0" i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350" b="0" i="0" dirty="0" err="1">
                <a:solidFill>
                  <a:srgbClr val="1A1A1A"/>
                </a:solidFill>
                <a:latin typeface="Calibri"/>
              </a:rPr>
              <a:t>Activar</a:t>
            </a:r>
            <a:r>
              <a:rPr sz="135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1A1A1A"/>
                </a:solidFill>
                <a:latin typeface="Calibri"/>
              </a:rPr>
              <a:t>acceso</a:t>
            </a:r>
            <a:r>
              <a:rPr sz="1350" b="0" i="0" dirty="0">
                <a:solidFill>
                  <a:srgbClr val="1A1A1A"/>
                </a:solidFill>
                <a:latin typeface="Calibri"/>
              </a:rPr>
              <a:t> privado </a:t>
            </a:r>
            <a:r>
              <a:rPr sz="1350" b="0" i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135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1A1A1A"/>
                </a:solidFill>
                <a:latin typeface="Calibri"/>
              </a:rPr>
              <a:t>producción</a:t>
            </a:r>
            <a:endParaRPr sz="135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7A59A1-351A-4D15-B466-37A34C5EF006}">
  <we:reference id="wa200010001" version="1.0.0.1" store="es-ES" storeType="OMEX"/>
  <we:alternateReferences>
    <we:reference id="wa200010001" version="1.0.0.1" store="" storeType="OMEX"/>
  </we:alternateReferences>
  <we:properties>
    <we:property name="claude.fileId" value="&quot;fe4db3de-24bd-422b-8768-0ac024e4220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823</Words>
  <Application>Microsoft Office PowerPoint</Application>
  <PresentationFormat>Panorámica</PresentationFormat>
  <Paragraphs>152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alejo perez</cp:lastModifiedBy>
  <cp:revision>3</cp:revision>
  <dcterms:created xsi:type="dcterms:W3CDTF">2013-01-27T09:14:16Z</dcterms:created>
  <dcterms:modified xsi:type="dcterms:W3CDTF">2026-07-30T17:08:40Z</dcterms:modified>
  <cp:category/>
</cp:coreProperties>
</file>